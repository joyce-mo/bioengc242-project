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Mapping Multi-Conformer Protein Ensembles</a:t>
            </a:r>
            <a:br/>
            <a:r>
              <a:t>with Diffusion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63FF"/>
                </a:solidFill>
                <a:latin typeface="Calibri"/>
              </a:defRPr>
            </a:pPr>
            <a:r>
              <a:t>BioEng C242 Project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Joyce Mo  | 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Goal: Develop generative models that capture the conformational diversity of proteins,</a:t>
            </a:r>
            <a:br/>
            <a:r>
              <a:t>moving beyond single-structure prediction to multi-conformer ensemble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004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Proteins are dynamic, not static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Single structures miss functional states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Ensembles capture flexibility, allostery,
  and binding diversity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Current methods (AlphaFold) predict
  one conformation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3832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41148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743200"/>
            <a:ext cx="32004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Two novel architectures: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1. VAE + Discrete Diffusion (DMRA)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2. Flow-Matching on all-atom coords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Train on synthetic ensembles from
  MC-SCE and Rosetta Backrub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CATH20 dataset for structural diversity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3832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2004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Representation alignment bridges
  VAE latent space and diffusion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Ensemble consistency loss ensures
  coherent multi-conformer output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Flow-matching provides deterministic
  ODE-based sampling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Raw PDB Files</a:t>
            </a:r>
            <a:br/>
            <a:r>
              <a:t>(CATH20)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82880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463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MC-SCE /</a:t>
            </a:r>
            <a:br/>
            <a:r>
              <a:t>Backrub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82880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1DD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1463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Ensemble</a:t>
            </a:r>
            <a:br/>
            <a:r>
              <a:t>PDB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82880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463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Graph</a:t>
            </a:r>
            <a:br/>
            <a:r>
              <a:t>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82880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1463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PyG Data</a:t>
            </a:r>
            <a:br/>
            <a:r>
              <a:t>(.pt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63FF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63FF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63FF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63FF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3383280" cy="32004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926080"/>
            <a:ext cx="33832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Node Features (12-dim)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B-factor (normalized)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SASA (solvent accessibility)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Backbone dihedrals: sin/cos(φ, ψ)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AA properties: hydrophobicity,
  charge, polarity, volume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Local density (10Å radius)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Sequence-structure exposure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926080"/>
            <a:ext cx="3383280" cy="32004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2926080"/>
            <a:ext cx="3383280" cy="41148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Edge Features (93-dim)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Gaussian RBF distance (15-dim)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Relative backbone positions (12-dim)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Sequence distance encoding (66-dim)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K-NN graph (K=30 on Cα)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926080"/>
            <a:ext cx="3383280" cy="32004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1DD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2926080"/>
            <a:ext cx="3383280" cy="411480"/>
          </a:xfrm>
          <a:prstGeom prst="roundRect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Ensemble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MC-SCE: Side-chain rotamer sampling
  at T=300K, 5 conformers/protein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Backrub: 10K MC steps at kT=0.6
  75% backbone / 25% sidechain moves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Running on Wynton (SGE)
  and Savio (SLURM) clusters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 1: VAE + Discrete Diffusion (DMRA)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VAE (Structural Encoder)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4-layer GNN encoder → latent μ, σ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Latent dim: 128, Hidden: 256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Per-node embeddings for alignment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4-layer GNN decoder reconstructs
  12-dim node features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β-annealing: 0 → 1 over 20 epochs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383280" cy="41148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Discrete 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Categorical diffusion on 20 AA types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Forward: Q_t = α_t·I + (1-α_t)/20·11ᵀ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Cosine noise schedule, T=500 steps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Per-residue independent transitions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Ancestral sampling for denoising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3832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DMRA Denoiser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6 layers of edge-conditioned MP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Multi-head attention (8 heads)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Shared center attention (virtual
  global node, O(n) complexity)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VAE alignment injection every
  2 layers via gated fusion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Output: logits over 20 AA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212080" cy="411480"/>
          </a:xfrm>
          <a:prstGeom prst="round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Representation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VAE embeddings → shared alignment space ← Denoiser embeddings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Cosine similarity loss bridges the two representation spaces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Gated injection: h = h_denoiser + σ(gate) · norm(transform(concat(h_denoiser, h_vae)))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Enables structural conditioning of the diffusion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1DD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5212080" cy="411480"/>
          </a:xfrm>
          <a:prstGeom prst="roundRect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Training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Phase 1: VAE pre-training (50 epochs, cosine LR)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Phase 2: Joint training (100 epochs)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L = L_diffusion + λ_vae·L_vae + λ_align·L_align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VAE frozen for first 5 epochs, then unfrozen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λ_vae=1.0, λ_align=0.5, LR=3e-5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 2: Flow-Matching Diffusion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1148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41148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Flow-Matching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Linear interpolation path: x_t = (1-t)·x_0 + t·ε,  t ∈ [0,1]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Learn velocity field: v = ε - x_0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Deterministic ODE integration (Euler method, 200 steps)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Operates on all-atom coordinates (atom37 representation)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Positions 0-3: N, CA, C, O backbone atoms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Position 4: Cβ (ideal geometry, masked for GLY)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Loss: ||v_pred - (ε - x_0)||² with per-atom masking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CoordinateVelocityNet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64592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Input: noisy atom37 coords + atom mask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Time conditioning: sinusoidal embeddings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Self-conditioning from previous prediction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12 layers of edge-conditioned message passing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Shared center attention for long-range info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K-NN graph rebuilt from noisy Cα positions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Output: per-atom velocity field (37×3 per residue)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10424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Architecture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VAE + Discrete Diffusion:  Operates on amino acid types (categorical)  |  Stochastic sampling  |  Conditioned via VAE latent space  |  Suited for sequence design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Flow-Matching:  Operates on 3D coordinates (continuous)  |  Deterministic ODE  |  Direct structural generation  |  Suited for conformer generation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Both use edge-conditioned message passing + shared center attention as core GNN building blocks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Core GNN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7432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Edge-Conditioned</a:t>
            </a:r>
            <a:br/>
            <a:r>
              <a:t>Message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Multi-head attention (8 heads)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Score = (q·k)/√d + edge_bias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Edge features → per-head bias via MLP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Feed-forward net + residual connection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LayerNorm + dropout (0.1)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Used in: VAE, Denoiser, Flow-Matching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7432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383280" cy="41148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Shared Center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Virtual global node for O(n) attention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Phase 1: Residues → center (attention)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Phase 2: Center → residues (gating)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Replaces O(n²) full self-attention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Per-graph via to_dense_batch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Used in: Denoiser, Flow-Matching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27432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1DD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383280" cy="411480"/>
          </a:xfrm>
          <a:prstGeom prst="roundRect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K-NN Graph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K=30 neighbors on Cα atoms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93-dim edge features encode: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Euclidean distance (RBF)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Relative backbone geometry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Sequence separation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Rebuilt per-sample (or per-step
  in flow-matching)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212080" cy="411480"/>
          </a:xfrm>
          <a:prstGeom prst="round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Loss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5029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VAE Loss: MSE reconstruction + β·KL divergence (β-annealing)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Diffusion Loss: Cross-entropy on predicted clean AA type logits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Alignment Loss: Cosine similarity between VAE and denoiser embeddings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Ensemble Consistency: KL divergence between conformer latent distributions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Flow Loss: MSE on predicted velocity field with atom masking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2120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663440"/>
            <a:ext cx="5029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Hidden dim: 256  |  Latent dim: 128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Num layers: 6 (denoiser/VAE), 12 (flow-matching)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Attention heads: 8  |  Dropout: 0.1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Diffusion timesteps: 500 (cosine schedule)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Flow-matching: 200 ODE steps, σ_data=10.0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47548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1DD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411480"/>
          </a:xfrm>
          <a:prstGeom prst="roundRect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Full model implementation: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VAE encoder/decoder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Discrete diffusion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DMRA denoiser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Flow-matching model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All loss functions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Data pipeline: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PDB parser + featurizer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Graph builder + datasets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Preprocessing scripts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Training infrastructure: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Phase 1 &amp; 2 training scripts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Flow-matching training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HPC job submission (SGE/SLURM)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47548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383280" cy="411480"/>
          </a:xfrm>
          <a:prstGeom prst="round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Ensemble generation: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MC-SCE running on Wynton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Backrub (PyRosetta) on Wynton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30-protein ai-cath subset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HPC debugging: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Savio CPU allocation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Wynton conda env / module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  loading in SGE jobs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Dataset preparation: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Generating PDB file lists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Path mapping across clusters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47548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3832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Not Yet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Model training: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Phase 1: VAE pre-training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Phase 2: Joint training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Flow-matching training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Evaluation: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Ensemble quality metrics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RMSD / TM-score analysis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Comparison to ground truth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Analysis &amp; visualization: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Latent space exploration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D3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  • Generated ensemble diversity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286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Immediate (This Week)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Complete MC-SCE + Backrub ensemble
  generation on Wynton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Resolve Savio allocation issue
  (contact BRC support)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Preprocess all ensembles to .pt graphs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Begin Phase 1 VAE pre-training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286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383280" cy="411480"/>
          </a:xfrm>
          <a:prstGeom prst="round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Short-Term (1-2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Complete VAE pre-training (50 epochs)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Run Phase 2 joint training (100 epochs)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Train flow-matching model (100 epochs)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Monitor training with W&amp;B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2286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1DD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383280" cy="411480"/>
          </a:xfrm>
          <a:prstGeom prst="roundRect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Medium-Term (3-4 Weeks)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Evaluate generated ensembles: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Structural validity (bond lengths)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Diversity (pairwise RMSD)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  • Coverage (TM-score to targets)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Compare VAE+Diffusion vs Flow-Matching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12080" cy="4114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Risks &amp; Mitigations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HPC allocation: Savio ic_chem242 account blocked → fallback to Wynton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Training compute: GPU availability on Savio → request savio3_gpu allocation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Ensemble quality: Synthetic data may not capture real dynamics → validate against
  experimental NMR ensembles if available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Model convergence: Complex joint training → staged approach with frozen VAE warmup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21208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212080" cy="41148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86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Stretch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29768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Scale to full CATH20 dataset (13K+ proteins)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Incorporate experimental ensemble data (NMR, MD)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Conditional generation: ensemble conditioned on
  target function or binding partner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D3"/>
                </a:solidFill>
                <a:latin typeface="Calibri"/>
              </a:rPr>
              <a:t>▸ </a:t>
            </a:r>
            <a:r>
              <a:rPr sz="1400">
                <a:solidFill>
                  <a:srgbClr val="CCCCCC"/>
                </a:solidFill>
                <a:latin typeface="Calibri"/>
              </a:rPr>
              <a:t>Benchmark against existing methods (EnsembleFold,
  AlphaFold ensembles, MD simulations)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